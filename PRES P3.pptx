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6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5" r:id="rId9"/>
    <p:sldId id="264" r:id="rId10"/>
    <p:sldId id="26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4"/>
  </p:normalViewPr>
  <p:slideViewPr>
    <p:cSldViewPr snapToGrid="0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97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7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36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3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7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1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5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288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643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40069DB-911A-4146-8001-51E96E4F09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DD919F9-B916-5546-BFCB-19F3C42C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FA37-0D51-F9AD-A58D-6B867BECF9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sz="6000" dirty="0"/>
              <a:t>PROJET 3  </a:t>
            </a:r>
            <a:br>
              <a:rPr lang="en-US" dirty="0"/>
            </a:br>
            <a:r>
              <a:rPr lang="en-US" sz="2800" b="1" dirty="0"/>
              <a:t>Mission - Prédisez la consommation d'énergie des bâtiments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A32D7-3D8D-63FF-FCA5-6E0AEFCEB0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/>
              <a:t>Par </a:t>
            </a:r>
            <a:r>
              <a:rPr lang="en-US" b="1"/>
              <a:t>Fatima-Zahra BARHOU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5538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E341-4C70-5096-6220-F06346A0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FCCA9-5CD7-67B7-F2A3-41BB7EA09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z="1600" dirty="0"/>
          </a:p>
          <a:p>
            <a:r>
              <a:rPr lang="fr-FR" sz="1600" dirty="0"/>
              <a:t>La ville de Seattle souhaite obtention les émissions de CO2 et la consommation totale d’énergie de bâtiments non destinés à l’habitation.</a:t>
            </a:r>
          </a:p>
          <a:p>
            <a:endParaRPr lang="fr-FR" sz="1600" dirty="0"/>
          </a:p>
          <a:p>
            <a:r>
              <a:rPr lang="fr-FR" sz="1600" dirty="0"/>
              <a:t>Des relevés minutieux ont été effectués par les agents de la ville en 2016., mais cela est très couteux.</a:t>
            </a:r>
          </a:p>
          <a:p>
            <a:r>
              <a:rPr lang="fr-FR" sz="1600" b="1" dirty="0"/>
              <a:t>NOTRE MISSION :</a:t>
            </a:r>
          </a:p>
          <a:p>
            <a:pPr marL="0" indent="0">
              <a:buNone/>
            </a:pPr>
            <a:r>
              <a:rPr lang="fr-FR" b="1" dirty="0"/>
              <a:t>	P</a:t>
            </a:r>
            <a:r>
              <a:rPr lang="fr-FR" b="1" noProof="0" dirty="0" err="1"/>
              <a:t>rédire</a:t>
            </a:r>
            <a:r>
              <a:rPr lang="fr-FR" b="1" noProof="0" dirty="0"/>
              <a:t> les émissions de CO2 et la consommation totale d’énergie de 	bâtiments non destinés à l’habitation pour lesquels elles n’ont pas encore été 	mesurées, dans la ville de Seattle.</a:t>
            </a:r>
          </a:p>
          <a:p>
            <a:endParaRPr lang="fr-FR" sz="1600" dirty="0"/>
          </a:p>
          <a:p>
            <a:endParaRPr lang="fr-FR" sz="1600" noProof="0" dirty="0"/>
          </a:p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5886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9DD1-9C05-A330-AF48-96B11F81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ANALYSE EXPLORATOIRE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9C842-A9A7-659C-4E9E-51478E02B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Etapes suivies :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Préparation du jeu de données</a:t>
            </a:r>
          </a:p>
          <a:p>
            <a:endParaRPr lang="fr-FR" dirty="0"/>
          </a:p>
          <a:p>
            <a:r>
              <a:rPr lang="fr-FR" dirty="0" err="1"/>
              <a:t>Cleaning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 err="1"/>
              <a:t>Feature</a:t>
            </a:r>
            <a:r>
              <a:rPr lang="fr-FR" dirty="0"/>
              <a:t> engineering </a:t>
            </a:r>
          </a:p>
        </p:txBody>
      </p:sp>
    </p:spTree>
    <p:extLst>
      <p:ext uri="{BB962C8B-B14F-4D97-AF65-F5344CB8AC3E}">
        <p14:creationId xmlns:p14="http://schemas.microsoft.com/office/powerpoint/2010/main" val="318669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9F6B1-2FEA-22E8-A819-421D12CCE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38" y="441434"/>
            <a:ext cx="10578662" cy="5593606"/>
          </a:xfrm>
        </p:spPr>
        <p:txBody>
          <a:bodyPr/>
          <a:lstStyle/>
          <a:p>
            <a:endParaRPr lang="fr-FR" dirty="0"/>
          </a:p>
          <a:p>
            <a:r>
              <a:rPr lang="fr-FR" dirty="0"/>
              <a:t>Nous partons d’un jeu de données comprenant 3376 lignes et 46 colonnes, et qui comprend beaucoup d’informations.</a:t>
            </a:r>
          </a:p>
          <a:p>
            <a:endParaRPr lang="fr-FR" dirty="0"/>
          </a:p>
          <a:p>
            <a:r>
              <a:rPr lang="fr-FR" dirty="0"/>
              <a:t>La première étape est le nettoyage du jeu de données :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Nous supprimons toutes les informations </a:t>
            </a:r>
            <a:r>
              <a:rPr lang="fr-FR" noProof="0" dirty="0"/>
              <a:t>relatives</a:t>
            </a:r>
            <a:r>
              <a:rPr lang="fr-FR" dirty="0"/>
              <a:t> aux bâtiments résidentiels et nous gardons uniquement les bâtiments non résidentiels objet de notre étude.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Nous supprimons les colonnes contenant des doublons, beaucoup de valeurs manquantes,, ou des NAN </a:t>
            </a:r>
            <a:r>
              <a:rPr lang="fr-FR" dirty="0" err="1"/>
              <a:t>etc</a:t>
            </a:r>
            <a:r>
              <a:rPr lang="fr-FR" dirty="0"/>
              <a:t> ..</a:t>
            </a:r>
          </a:p>
          <a:p>
            <a:endParaRPr lang="fr-FR" dirty="0"/>
          </a:p>
          <a:p>
            <a:r>
              <a:rPr lang="fr-FR" dirty="0"/>
              <a:t>Nous supprimons les lignes contenant des valeurs anormalement négatives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99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F17F-AEE0-E37E-5917-42701888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1600" dirty="0"/>
              <a:t>Voici la répartition de la consommation d’énergie et émissions de CO2 par type d’usage du bâtiment :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90D5DF-9150-8410-8DA8-C67F34127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2347" y="2361800"/>
            <a:ext cx="4271222" cy="3932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4E33E5-A651-2022-9CA8-91F2C1BD3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08" y="1849463"/>
            <a:ext cx="3496150" cy="444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4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059B-3341-D8AF-BCA5-7814E6B8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</a:t>
            </a:r>
            <a:r>
              <a:rPr lang="fr-FR" dirty="0"/>
              <a:t> engineering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23B4FF-57E9-7984-94B9-96650D4FB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Nous créons des nouvelles </a:t>
            </a:r>
            <a:r>
              <a:rPr lang="fr-FR" dirty="0" err="1"/>
              <a:t>features</a:t>
            </a:r>
            <a:r>
              <a:rPr lang="fr-FR" dirty="0"/>
              <a:t> à partir de données que nous avons pour enrichir nos données : </a:t>
            </a:r>
          </a:p>
          <a:p>
            <a:endParaRPr lang="fr-FR" dirty="0"/>
          </a:p>
          <a:p>
            <a:pPr lvl="1"/>
            <a:r>
              <a:rPr lang="fr-FR" dirty="0"/>
              <a:t>Bâtiment mono usage ou multi usage.</a:t>
            </a:r>
          </a:p>
          <a:p>
            <a:pPr lvl="1"/>
            <a:r>
              <a:rPr lang="fr-FR" dirty="0"/>
              <a:t>Building Age</a:t>
            </a:r>
          </a:p>
          <a:p>
            <a:pPr lvl="1"/>
            <a:r>
              <a:rPr lang="fr-FR" dirty="0" err="1"/>
              <a:t>Emissions_per_Surface</a:t>
            </a:r>
            <a:endParaRPr lang="fr-FR" dirty="0"/>
          </a:p>
          <a:p>
            <a:pPr lvl="1"/>
            <a:r>
              <a:rPr lang="fr-FR" dirty="0"/>
              <a:t>GFA-1use_ratio</a:t>
            </a:r>
          </a:p>
          <a:p>
            <a:pPr lvl="1"/>
            <a:r>
              <a:rPr lang="fr-FR" dirty="0" err="1"/>
              <a:t>GFA_per_Floor</a:t>
            </a:r>
            <a:endParaRPr lang="fr-FR" dirty="0"/>
          </a:p>
          <a:p>
            <a:pPr lvl="1"/>
            <a:r>
              <a:rPr lang="fr-FR" dirty="0" err="1"/>
              <a:t>Emissions_per_floor</a:t>
            </a:r>
            <a:endParaRPr lang="fr-FR" dirty="0"/>
          </a:p>
          <a:p>
            <a:pPr lvl="1"/>
            <a:r>
              <a:rPr lang="fr-FR" dirty="0" err="1"/>
              <a:t>Elec_ratio</a:t>
            </a:r>
            <a:endParaRPr lang="fr-FR" dirty="0"/>
          </a:p>
          <a:p>
            <a:pPr lvl="1"/>
            <a:r>
              <a:rPr lang="fr-FR" dirty="0" err="1"/>
              <a:t>steam_ratio</a:t>
            </a:r>
            <a:endParaRPr lang="fr-FR" dirty="0"/>
          </a:p>
          <a:p>
            <a:pPr lvl="1"/>
            <a:r>
              <a:rPr lang="fr-FR" dirty="0" err="1"/>
              <a:t>NGas_ratio</a:t>
            </a:r>
            <a:endParaRPr lang="fr-FR" dirty="0"/>
          </a:p>
          <a:p>
            <a:pPr lvl="1"/>
            <a:r>
              <a:rPr lang="fr-FR" dirty="0" err="1"/>
              <a:t>Elec_sourced_en</a:t>
            </a:r>
            <a:endParaRPr lang="fr-FR" dirty="0"/>
          </a:p>
          <a:p>
            <a:pPr lvl="1"/>
            <a:r>
              <a:rPr lang="fr-FR" dirty="0" err="1"/>
              <a:t>Steam_sourced_en</a:t>
            </a:r>
            <a:endParaRPr lang="fr-FR" dirty="0"/>
          </a:p>
          <a:p>
            <a:pPr lvl="1"/>
            <a:r>
              <a:rPr lang="fr-FR" dirty="0" err="1"/>
              <a:t>NGas_sourced_en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504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94D489-2411-3A4A-D0C2-82F08E90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1" y="958971"/>
            <a:ext cx="5649309" cy="2879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96AAE2-A31A-A951-20F9-14D741A3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3778"/>
            <a:ext cx="10058400" cy="442503"/>
          </a:xfrm>
        </p:spPr>
        <p:txBody>
          <a:bodyPr>
            <a:normAutofit fontScale="90000"/>
          </a:bodyPr>
          <a:lstStyle/>
          <a:p>
            <a:r>
              <a:rPr lang="en-US" dirty="0"/>
              <a:t>Suppression des outliers 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3E9E4F-E9D2-41AB-0269-DF97E9C6B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958971"/>
            <a:ext cx="5649310" cy="28799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57E0AB-0CEF-4D9F-F848-714BE4EE9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342" y="3838902"/>
            <a:ext cx="5649313" cy="287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0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F457-9B40-8E34-E307-A247154B4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62" y="278524"/>
            <a:ext cx="10058400" cy="478746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sz="1800" b="1" dirty="0"/>
              <a:t>Etude de corrélation entre les variables pour supprimer les variables trop </a:t>
            </a:r>
            <a:r>
              <a:rPr lang="fr-FR" sz="1800" b="1" noProof="0" dirty="0"/>
              <a:t>corrélés</a:t>
            </a:r>
            <a:r>
              <a:rPr lang="fr-FR" sz="1800" b="1" dirty="0"/>
              <a:t> ou redondantes : </a:t>
            </a:r>
            <a:br>
              <a:rPr lang="fr-FR" sz="1800" b="1" dirty="0"/>
            </a:br>
            <a:br>
              <a:rPr lang="fr-FR" sz="1800" b="1" dirty="0"/>
            </a:br>
            <a:r>
              <a:rPr lang="fr-FR" sz="1800" b="1" dirty="0"/>
              <a:t>corrélations marquantes :</a:t>
            </a:r>
            <a:br>
              <a:rPr lang="fr-FR" sz="1200" dirty="0"/>
            </a:br>
            <a:br>
              <a:rPr lang="fr-FR" sz="1200" b="1" dirty="0"/>
            </a:br>
            <a:r>
              <a:rPr lang="fr-FR" sz="1200" b="1" dirty="0" err="1"/>
              <a:t>PropertyGFATotal</a:t>
            </a:r>
            <a:r>
              <a:rPr lang="fr-FR" sz="1200" b="1" dirty="0"/>
              <a:t> &amp; </a:t>
            </a:r>
            <a:r>
              <a:rPr lang="fr-FR" sz="1200" b="1" dirty="0" err="1"/>
              <a:t>PropertyGFABuilding</a:t>
            </a:r>
            <a:r>
              <a:rPr lang="fr-FR" sz="1200" b="1" dirty="0"/>
              <a:t>(s) : 0.92</a:t>
            </a:r>
            <a:br>
              <a:rPr lang="fr-FR" sz="1200" b="1" dirty="0"/>
            </a:br>
            <a:r>
              <a:rPr lang="fr-FR" sz="1200" b="1" dirty="0" err="1"/>
              <a:t>PropertyGFATotal</a:t>
            </a:r>
            <a:r>
              <a:rPr lang="fr-FR" sz="1200" b="1" dirty="0"/>
              <a:t> &amp; </a:t>
            </a:r>
            <a:r>
              <a:rPr lang="fr-FR" sz="1200" b="1" dirty="0" err="1"/>
              <a:t>PropertyGFAParking</a:t>
            </a:r>
            <a:r>
              <a:rPr lang="fr-FR" sz="1200" b="1" dirty="0"/>
              <a:t> : 0.87 </a:t>
            </a:r>
            <a:br>
              <a:rPr lang="fr-FR" sz="1200" b="1" dirty="0"/>
            </a:br>
            <a:r>
              <a:rPr lang="fr-FR" sz="1200" b="1" dirty="0" err="1"/>
              <a:t>PropertyGFABuilding</a:t>
            </a:r>
            <a:r>
              <a:rPr lang="fr-FR" sz="1200" b="1" dirty="0"/>
              <a:t>(s) &amp; </a:t>
            </a:r>
            <a:r>
              <a:rPr lang="fr-FR" sz="1200" b="1" dirty="0" err="1"/>
              <a:t>PropertyGFAParking</a:t>
            </a:r>
            <a:r>
              <a:rPr lang="fr-FR" sz="1200" b="1" dirty="0"/>
              <a:t> : 0.74 </a:t>
            </a:r>
            <a:br>
              <a:rPr lang="fr-FR" sz="1200" b="1" dirty="0"/>
            </a:br>
            <a:r>
              <a:rPr lang="fr-FR" sz="1200" b="1" dirty="0" err="1"/>
              <a:t>PropertyGFATotal</a:t>
            </a:r>
            <a:r>
              <a:rPr lang="fr-FR" sz="1200" b="1" dirty="0"/>
              <a:t> &amp; </a:t>
            </a:r>
            <a:r>
              <a:rPr lang="fr-FR" sz="1200" b="1" dirty="0" err="1"/>
              <a:t>SiteEnergyUse</a:t>
            </a:r>
            <a:r>
              <a:rPr lang="fr-FR" sz="1200" b="1" dirty="0"/>
              <a:t>(</a:t>
            </a:r>
            <a:r>
              <a:rPr lang="fr-FR" sz="1200" b="1" dirty="0" err="1"/>
              <a:t>kBtu</a:t>
            </a:r>
            <a:r>
              <a:rPr lang="fr-FR" sz="1200" b="1" dirty="0"/>
              <a:t>) : 0.75</a:t>
            </a:r>
            <a:br>
              <a:rPr lang="fr-FR" sz="1200" b="1" dirty="0"/>
            </a:br>
            <a:r>
              <a:rPr lang="fr-FR" sz="1200" b="1" dirty="0" err="1"/>
              <a:t>PropertyGFABuilding</a:t>
            </a:r>
            <a:r>
              <a:rPr lang="fr-FR" sz="1200" b="1" dirty="0"/>
              <a:t>(s) &amp; </a:t>
            </a:r>
            <a:r>
              <a:rPr lang="fr-FR" sz="1200" b="1" dirty="0" err="1"/>
              <a:t>SiteEnergyUse</a:t>
            </a:r>
            <a:r>
              <a:rPr lang="fr-FR" sz="1200" b="1" dirty="0"/>
              <a:t>(</a:t>
            </a:r>
            <a:r>
              <a:rPr lang="fr-FR" sz="1200" b="1" dirty="0" err="1"/>
              <a:t>kBtu</a:t>
            </a:r>
            <a:r>
              <a:rPr lang="fr-FR" sz="1200" b="1" dirty="0"/>
              <a:t>) : 0.74 </a:t>
            </a:r>
            <a:br>
              <a:rPr lang="fr-FR" sz="1200" b="1" dirty="0"/>
            </a:br>
            <a:r>
              <a:rPr lang="fr-FR" sz="1200" b="1" dirty="0" err="1"/>
              <a:t>SiteEnergyUse</a:t>
            </a:r>
            <a:r>
              <a:rPr lang="fr-FR" sz="1200" b="1" dirty="0"/>
              <a:t>(</a:t>
            </a:r>
            <a:r>
              <a:rPr lang="fr-FR" sz="1200" b="1" dirty="0" err="1"/>
              <a:t>kBtu</a:t>
            </a:r>
            <a:r>
              <a:rPr lang="fr-FR" sz="1200" b="1" dirty="0"/>
              <a:t>) &amp; </a:t>
            </a:r>
            <a:r>
              <a:rPr lang="fr-FR" sz="1200" b="1" dirty="0" err="1"/>
              <a:t>TotalGHGEmissions</a:t>
            </a:r>
            <a:r>
              <a:rPr lang="fr-FR" sz="1200" b="1" dirty="0"/>
              <a:t> : 0.81</a:t>
            </a:r>
            <a:br>
              <a:rPr lang="fr-FR" sz="1200" b="1" dirty="0"/>
            </a:br>
            <a:r>
              <a:rPr lang="fr-FR" sz="1200" b="1" dirty="0" err="1"/>
              <a:t>SiteEnergyUseWN</a:t>
            </a:r>
            <a:r>
              <a:rPr lang="fr-FR" sz="1200" b="1" dirty="0"/>
              <a:t>(</a:t>
            </a:r>
            <a:r>
              <a:rPr lang="fr-FR" sz="1200" b="1" dirty="0" err="1"/>
              <a:t>kBtu</a:t>
            </a:r>
            <a:r>
              <a:rPr lang="fr-FR" sz="1200" b="1" dirty="0"/>
              <a:t>) &amp; </a:t>
            </a:r>
            <a:r>
              <a:rPr lang="fr-FR" sz="1200" b="1" dirty="0" err="1"/>
              <a:t>TotalGHGEmissions</a:t>
            </a:r>
            <a:r>
              <a:rPr lang="fr-FR" sz="1200" b="1" dirty="0"/>
              <a:t> : 0.81</a:t>
            </a:r>
            <a:br>
              <a:rPr lang="fr-FR" sz="1200" b="1" dirty="0"/>
            </a:br>
            <a:r>
              <a:rPr lang="fr-FR" sz="1200" b="1" dirty="0" err="1"/>
              <a:t>zscore_energyuse</a:t>
            </a:r>
            <a:r>
              <a:rPr lang="fr-FR" sz="1200" b="1" dirty="0"/>
              <a:t> &amp; </a:t>
            </a:r>
            <a:r>
              <a:rPr lang="fr-FR" sz="1200" b="1" dirty="0" err="1"/>
              <a:t>zscore_totalemissions</a:t>
            </a:r>
            <a:r>
              <a:rPr lang="fr-FR" sz="1200" b="1" dirty="0"/>
              <a:t> : 1.00</a:t>
            </a:r>
            <a:br>
              <a:rPr lang="fr-FR" sz="1200" b="1" dirty="0"/>
            </a:br>
            <a:r>
              <a:rPr lang="fr-FR" sz="1200" b="1" dirty="0"/>
              <a:t>GFA_1use_ratio &amp; </a:t>
            </a:r>
            <a:r>
              <a:rPr lang="fr-FR" sz="1200" b="1" dirty="0" err="1"/>
              <a:t>GFA_per_floor</a:t>
            </a:r>
            <a:r>
              <a:rPr lang="fr-FR" sz="1200" b="1" dirty="0"/>
              <a:t> : 0.75</a:t>
            </a:r>
            <a:br>
              <a:rPr lang="fr-FR" sz="1200" b="1" dirty="0"/>
            </a:br>
            <a:r>
              <a:rPr lang="fr-FR" sz="1200" b="1" dirty="0"/>
              <a:t>GFA_1use_ratio &amp; </a:t>
            </a:r>
            <a:r>
              <a:rPr lang="fr-FR" sz="1200" b="1" dirty="0" err="1"/>
              <a:t>GFA_per_Surface</a:t>
            </a:r>
            <a:r>
              <a:rPr lang="fr-FR" sz="1200" b="1" dirty="0"/>
              <a:t> : 0.75</a:t>
            </a:r>
            <a:br>
              <a:rPr lang="fr-FR" sz="1200" b="1" dirty="0"/>
            </a:br>
            <a:r>
              <a:rPr lang="fr-FR" sz="1200" b="1" dirty="0" err="1"/>
              <a:t>Elec_ratio</a:t>
            </a:r>
            <a:r>
              <a:rPr lang="fr-FR" sz="1200" b="1" dirty="0"/>
              <a:t> &amp; </a:t>
            </a:r>
            <a:r>
              <a:rPr lang="fr-FR" sz="1200" b="1" dirty="0" err="1"/>
              <a:t>Elec_sourced_en</a:t>
            </a:r>
            <a:r>
              <a:rPr lang="fr-FR" sz="1200" b="1" dirty="0"/>
              <a:t> : 0.86</a:t>
            </a:r>
            <a:br>
              <a:rPr lang="fr-FR" sz="1200" b="1" dirty="0"/>
            </a:br>
            <a:r>
              <a:rPr lang="fr-FR" sz="1200" b="1" dirty="0" err="1"/>
              <a:t>Steam_ratio</a:t>
            </a:r>
            <a:r>
              <a:rPr lang="fr-FR" sz="1200" b="1" dirty="0"/>
              <a:t> &amp; </a:t>
            </a:r>
            <a:r>
              <a:rPr lang="fr-FR" sz="1200" b="1" dirty="0" err="1"/>
              <a:t>Steam_sourced_en</a:t>
            </a:r>
            <a:r>
              <a:rPr lang="fr-FR" sz="1200" b="1" dirty="0"/>
              <a:t> : 0.86</a:t>
            </a:r>
            <a:br>
              <a:rPr lang="fr-FR" sz="1200" dirty="0"/>
            </a:br>
            <a:br>
              <a:rPr lang="en-US" sz="1000" dirty="0"/>
            </a:br>
            <a:endParaRPr lang="fr-FR" sz="10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2F5E82-9C95-8C29-00B3-54C7909E1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807" y="1312276"/>
            <a:ext cx="7957328" cy="51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96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03DB-1266-2C34-CDE9-F2715AC9F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03" y="285243"/>
            <a:ext cx="10058400" cy="860385"/>
          </a:xfrm>
        </p:spPr>
        <p:txBody>
          <a:bodyPr>
            <a:normAutofit/>
          </a:bodyPr>
          <a:lstStyle/>
          <a:p>
            <a:r>
              <a:rPr lang="en-US" sz="1600" b="1" dirty="0"/>
              <a:t>Heatmap après </a:t>
            </a:r>
            <a:r>
              <a:rPr lang="en-US" sz="1600" b="1" dirty="0" err="1"/>
              <a:t>traitement</a:t>
            </a:r>
            <a:r>
              <a:rPr lang="en-US" sz="1600" b="1" dirty="0"/>
              <a:t>  des features : 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55B01A-E7E0-8466-886D-849CAC3C3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103" y="1514860"/>
            <a:ext cx="10298820" cy="449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76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293D-6F61-A2C1-9A85-73400657B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Modélisation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6E71D-B66D-2ABC-9C0A-56375FE9F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83486"/>
            <a:ext cx="10058400" cy="3931920"/>
          </a:xfrm>
        </p:spPr>
        <p:txBody>
          <a:bodyPr/>
          <a:lstStyle/>
          <a:p>
            <a:r>
              <a:rPr lang="fr-FR" noProof="0" dirty="0"/>
              <a:t>Encodage des colonnes catégorielles : One hot encoder</a:t>
            </a:r>
          </a:p>
          <a:p>
            <a:r>
              <a:rPr lang="fr-FR" noProof="0" dirty="0"/>
              <a:t>Imputation : </a:t>
            </a:r>
            <a:r>
              <a:rPr lang="fr-FR" noProof="0" dirty="0" err="1"/>
              <a:t>SimpleImputer</a:t>
            </a:r>
            <a:endParaRPr lang="fr-FR" noProof="0" dirty="0"/>
          </a:p>
          <a:p>
            <a:r>
              <a:rPr lang="fr-FR" noProof="0" dirty="0"/>
              <a:t>Standardisation des valeurs : </a:t>
            </a:r>
            <a:r>
              <a:rPr lang="fr-FR" noProof="0" dirty="0" err="1"/>
              <a:t>StandardScaler</a:t>
            </a:r>
            <a:endParaRPr lang="fr-FR" noProof="0" dirty="0"/>
          </a:p>
          <a:p>
            <a:r>
              <a:rPr lang="fr-FR" dirty="0"/>
              <a:t>Modèles comparés : </a:t>
            </a:r>
            <a:r>
              <a:rPr lang="fr-FR" dirty="0" err="1"/>
              <a:t>Linear</a:t>
            </a:r>
            <a:r>
              <a:rPr lang="fr-FR" dirty="0"/>
              <a:t> </a:t>
            </a:r>
            <a:r>
              <a:rPr lang="fr-FR" dirty="0" err="1"/>
              <a:t>Regression</a:t>
            </a:r>
            <a:r>
              <a:rPr lang="fr-FR" dirty="0"/>
              <a:t> ,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Regressor</a:t>
            </a:r>
            <a:r>
              <a:rPr lang="fr-FR" dirty="0"/>
              <a:t>, SVR et </a:t>
            </a:r>
            <a:r>
              <a:rPr lang="fr-FR" dirty="0" err="1"/>
              <a:t>Random</a:t>
            </a:r>
            <a:r>
              <a:rPr lang="fr-FR" dirty="0"/>
              <a:t> Forest </a:t>
            </a:r>
            <a:r>
              <a:rPr lang="fr-FR" dirty="0" err="1"/>
              <a:t>Regression</a:t>
            </a:r>
            <a:r>
              <a:rPr lang="fr-FR" dirty="0"/>
              <a:t>.</a:t>
            </a:r>
          </a:p>
          <a:p>
            <a:r>
              <a:rPr lang="fr-FR" dirty="0"/>
              <a:t>Métriques : R2, RMSE et MAE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17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28B1-BF76-95C1-C2A1-D18697BA8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407" y="222180"/>
            <a:ext cx="10058400" cy="762163"/>
          </a:xfrm>
        </p:spPr>
        <p:txBody>
          <a:bodyPr>
            <a:normAutofit/>
          </a:bodyPr>
          <a:lstStyle/>
          <a:p>
            <a:r>
              <a:rPr lang="en-US" sz="1800" b="1" dirty="0"/>
              <a:t>Comparaison des </a:t>
            </a:r>
            <a:r>
              <a:rPr lang="en-US" sz="1800" b="1" dirty="0" err="1"/>
              <a:t>résultats</a:t>
            </a:r>
            <a:r>
              <a:rPr lang="en-US" sz="1800" b="1" dirty="0"/>
              <a:t> pour la </a:t>
            </a:r>
            <a:r>
              <a:rPr lang="en-US" sz="1800" b="1" dirty="0" err="1"/>
              <a:t>consommation</a:t>
            </a:r>
            <a:r>
              <a:rPr lang="en-US" sz="1800" b="1" dirty="0"/>
              <a:t> </a:t>
            </a:r>
            <a:r>
              <a:rPr lang="en-US" sz="1800" b="1" dirty="0" err="1"/>
              <a:t>d’energie</a:t>
            </a:r>
            <a:r>
              <a:rPr lang="en-US" sz="1800" b="1" dirty="0"/>
              <a:t> :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F11E32-8326-EC1F-97FE-66B1AACEE8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049138"/>
              </p:ext>
            </p:extLst>
          </p:nvPr>
        </p:nvGraphicFramePr>
        <p:xfrm>
          <a:off x="483476" y="984343"/>
          <a:ext cx="11041119" cy="3291840"/>
        </p:xfrm>
        <a:graphic>
          <a:graphicData uri="http://schemas.openxmlformats.org/drawingml/2006/table">
            <a:tbl>
              <a:tblPr/>
              <a:tblGrid>
                <a:gridCol w="1964612">
                  <a:extLst>
                    <a:ext uri="{9D8B030D-6E8A-4147-A177-3AD203B41FA5}">
                      <a16:colId xmlns:a16="http://schemas.microsoft.com/office/drawing/2014/main" val="2341371449"/>
                    </a:ext>
                  </a:extLst>
                </a:gridCol>
                <a:gridCol w="1177792">
                  <a:extLst>
                    <a:ext uri="{9D8B030D-6E8A-4147-A177-3AD203B41FA5}">
                      <a16:colId xmlns:a16="http://schemas.microsoft.com/office/drawing/2014/main" val="1734504922"/>
                    </a:ext>
                  </a:extLst>
                </a:gridCol>
                <a:gridCol w="1579743">
                  <a:extLst>
                    <a:ext uri="{9D8B030D-6E8A-4147-A177-3AD203B41FA5}">
                      <a16:colId xmlns:a16="http://schemas.microsoft.com/office/drawing/2014/main" val="1778986406"/>
                    </a:ext>
                  </a:extLst>
                </a:gridCol>
                <a:gridCol w="1579743">
                  <a:extLst>
                    <a:ext uri="{9D8B030D-6E8A-4147-A177-3AD203B41FA5}">
                      <a16:colId xmlns:a16="http://schemas.microsoft.com/office/drawing/2014/main" val="3032014030"/>
                    </a:ext>
                  </a:extLst>
                </a:gridCol>
                <a:gridCol w="1579743">
                  <a:extLst>
                    <a:ext uri="{9D8B030D-6E8A-4147-A177-3AD203B41FA5}">
                      <a16:colId xmlns:a16="http://schemas.microsoft.com/office/drawing/2014/main" val="2761472965"/>
                    </a:ext>
                  </a:extLst>
                </a:gridCol>
                <a:gridCol w="1579743">
                  <a:extLst>
                    <a:ext uri="{9D8B030D-6E8A-4147-A177-3AD203B41FA5}">
                      <a16:colId xmlns:a16="http://schemas.microsoft.com/office/drawing/2014/main" val="1866914254"/>
                    </a:ext>
                  </a:extLst>
                </a:gridCol>
                <a:gridCol w="1579743">
                  <a:extLst>
                    <a:ext uri="{9D8B030D-6E8A-4147-A177-3AD203B41FA5}">
                      <a16:colId xmlns:a16="http://schemas.microsoft.com/office/drawing/2014/main" val="3765286482"/>
                    </a:ext>
                  </a:extLst>
                </a:gridCol>
              </a:tblGrid>
              <a:tr h="357755">
                <a:tc>
                  <a:txBody>
                    <a:bodyPr/>
                    <a:lstStyle/>
                    <a:p>
                      <a:r>
                        <a:rPr lang="en-US" b="0" dirty="0" err="1"/>
                        <a:t>Modèle</a:t>
                      </a:r>
                      <a:endParaRPr lang="en-US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R² 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R²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RMSE 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RMSE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MAE 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MAE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999444"/>
                  </a:ext>
                </a:extLst>
              </a:tr>
              <a:tr h="626071">
                <a:tc>
                  <a:txBody>
                    <a:bodyPr/>
                    <a:lstStyle/>
                    <a:p>
                      <a:r>
                        <a:rPr lang="en-US" b="1" dirty="0"/>
                        <a:t>Linear Regression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0.8742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0.8701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613,089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643,085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384,709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434,238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92747"/>
                  </a:ext>
                </a:extLst>
              </a:tr>
              <a:tr h="626071">
                <a:tc>
                  <a:txBody>
                    <a:bodyPr/>
                    <a:lstStyle/>
                    <a:p>
                      <a:r>
                        <a:rPr lang="en-US" b="1" dirty="0"/>
                        <a:t>Dummy Regressor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1,728,853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1,784,432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1,382,768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1,460,411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63501"/>
                  </a:ext>
                </a:extLst>
              </a:tr>
              <a:tr h="357755">
                <a:tc>
                  <a:txBody>
                    <a:bodyPr/>
                    <a:lstStyle/>
                    <a:p>
                      <a:r>
                        <a:rPr lang="en-US" b="1" dirty="0"/>
                        <a:t>SVR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-0.0962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-0.0988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1,810,130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1,870,339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1,314,145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1,382,768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093010"/>
                  </a:ext>
                </a:extLst>
              </a:tr>
              <a:tr h="357755">
                <a:tc>
                  <a:txBody>
                    <a:bodyPr/>
                    <a:lstStyle/>
                    <a:p>
                      <a:r>
                        <a:rPr lang="en-US" b="1" dirty="0"/>
                        <a:t>Random Forest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0.9927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0.9724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147,692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296,411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69,385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159,591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724491"/>
                  </a:ext>
                </a:extLst>
              </a:tr>
              <a:tr h="894388">
                <a:tc>
                  <a:txBody>
                    <a:bodyPr/>
                    <a:lstStyle/>
                    <a:p>
                      <a:r>
                        <a:rPr lang="en-US" b="1" dirty="0"/>
                        <a:t>Random Forest </a:t>
                      </a:r>
                      <a:r>
                        <a:rPr lang="en-US" b="1" dirty="0" err="1"/>
                        <a:t>optimisé</a:t>
                      </a:r>
                      <a:r>
                        <a:rPr lang="en-US" b="1" dirty="0"/>
                        <a:t> avec Grid Search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107,599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274,278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48,608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136,509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934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56ECE8B-E2DC-AF2C-8843-8E31DD5C13FE}"/>
              </a:ext>
            </a:extLst>
          </p:cNvPr>
          <p:cNvSpPr txBox="1"/>
          <p:nvPr/>
        </p:nvSpPr>
        <p:spPr>
          <a:xfrm>
            <a:off x="289029" y="4462710"/>
            <a:ext cx="11361683" cy="209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CONCLUSION : </a:t>
            </a:r>
          </a:p>
          <a:p>
            <a:pPr>
              <a:buNone/>
            </a:pP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Le </a:t>
            </a:r>
            <a:r>
              <a:rPr lang="en-US" sz="1400" b="1" dirty="0" err="1"/>
              <a:t>meilleur</a:t>
            </a:r>
            <a:r>
              <a:rPr lang="en-US" sz="1400" b="1" dirty="0"/>
              <a:t> </a:t>
            </a:r>
            <a:r>
              <a:rPr lang="en-US" sz="1400" b="1" dirty="0" err="1"/>
              <a:t>modèle</a:t>
            </a:r>
            <a:r>
              <a:rPr lang="en-US" sz="1400" b="1" dirty="0"/>
              <a:t> </a:t>
            </a:r>
            <a:r>
              <a:rPr lang="en-US" sz="1400" dirty="0" err="1"/>
              <a:t>est</a:t>
            </a:r>
            <a:r>
              <a:rPr lang="en-US" sz="1400" dirty="0"/>
              <a:t> </a:t>
            </a:r>
            <a:r>
              <a:rPr lang="en-US" sz="1400" dirty="0" err="1"/>
              <a:t>celui</a:t>
            </a:r>
            <a:r>
              <a:rPr lang="en-US" sz="1400" dirty="0"/>
              <a:t> </a:t>
            </a:r>
            <a:r>
              <a:rPr lang="en-US" sz="1400" dirty="0" err="1"/>
              <a:t>obtenu</a:t>
            </a:r>
            <a:r>
              <a:rPr lang="en-US" sz="1400" dirty="0"/>
              <a:t> via </a:t>
            </a:r>
            <a:r>
              <a:rPr lang="en-US" sz="1400" b="1" dirty="0"/>
              <a:t>Grid Search</a:t>
            </a:r>
            <a:r>
              <a:rPr lang="en-US" sz="1400" dirty="0"/>
              <a:t>, qui </a:t>
            </a:r>
            <a:r>
              <a:rPr lang="en-US" sz="1400" dirty="0" err="1"/>
              <a:t>donne</a:t>
            </a:r>
            <a:r>
              <a:rPr lang="en-US" sz="1400" dirty="0"/>
              <a:t> les </a:t>
            </a:r>
            <a:r>
              <a:rPr lang="en-US" sz="1400" dirty="0" err="1"/>
              <a:t>meilleurs</a:t>
            </a:r>
            <a:r>
              <a:rPr lang="en-US" sz="1400" dirty="0"/>
              <a:t> scores sur </a:t>
            </a:r>
            <a:r>
              <a:rPr lang="en-US" sz="1400" dirty="0" err="1"/>
              <a:t>toutes</a:t>
            </a:r>
            <a:r>
              <a:rPr lang="en-US" sz="1400" dirty="0"/>
              <a:t> les </a:t>
            </a:r>
            <a:r>
              <a:rPr lang="en-US" sz="1400" dirty="0" err="1"/>
              <a:t>métriques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Le </a:t>
            </a:r>
            <a:r>
              <a:rPr lang="en-US" sz="1400" b="1" dirty="0"/>
              <a:t>Random Forest</a:t>
            </a:r>
            <a:r>
              <a:rPr lang="en-US" sz="1400" dirty="0"/>
              <a:t> </a:t>
            </a:r>
            <a:r>
              <a:rPr lang="en-US" sz="1400" dirty="0" err="1"/>
              <a:t>est</a:t>
            </a:r>
            <a:r>
              <a:rPr lang="en-US" sz="1400" dirty="0"/>
              <a:t> </a:t>
            </a:r>
            <a:r>
              <a:rPr lang="en-US" sz="1400" dirty="0" err="1"/>
              <a:t>également</a:t>
            </a:r>
            <a:r>
              <a:rPr lang="en-US" sz="1400" dirty="0"/>
              <a:t> très performant, bien </a:t>
            </a:r>
            <a:r>
              <a:rPr lang="en-US" sz="1400" dirty="0" err="1"/>
              <a:t>qu’un</a:t>
            </a:r>
            <a:r>
              <a:rPr lang="en-US" sz="1400" dirty="0"/>
              <a:t> peu </a:t>
            </a:r>
            <a:r>
              <a:rPr lang="en-US" sz="1400" dirty="0" err="1"/>
              <a:t>moins</a:t>
            </a:r>
            <a:r>
              <a:rPr lang="en-US" sz="1400" dirty="0"/>
              <a:t> bon que Grid Search.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Linear Regression</a:t>
            </a:r>
            <a:r>
              <a:rPr lang="en-US" sz="1400" dirty="0"/>
              <a:t> </a:t>
            </a:r>
            <a:r>
              <a:rPr lang="en-US" sz="1400" dirty="0" err="1"/>
              <a:t>offre</a:t>
            </a:r>
            <a:r>
              <a:rPr lang="en-US" sz="1400" dirty="0"/>
              <a:t> de </a:t>
            </a:r>
            <a:r>
              <a:rPr lang="en-US" sz="1400" dirty="0" err="1"/>
              <a:t>bonnes</a:t>
            </a:r>
            <a:r>
              <a:rPr lang="en-US" sz="1400" dirty="0"/>
              <a:t> performances de base, </a:t>
            </a:r>
            <a:r>
              <a:rPr lang="en-US" sz="1400" dirty="0" err="1"/>
              <a:t>mais</a:t>
            </a:r>
            <a:r>
              <a:rPr lang="en-US" sz="1400" dirty="0"/>
              <a:t> </a:t>
            </a:r>
            <a:r>
              <a:rPr lang="en-US" sz="1400" dirty="0" err="1"/>
              <a:t>reste</a:t>
            </a:r>
            <a:r>
              <a:rPr lang="en-US" sz="1400" dirty="0"/>
              <a:t> loin derrière les </a:t>
            </a:r>
            <a:r>
              <a:rPr lang="en-US" sz="1400" dirty="0" err="1"/>
              <a:t>modèles</a:t>
            </a:r>
            <a:r>
              <a:rPr lang="en-US" sz="1400" dirty="0"/>
              <a:t> plus complexes.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Les performances du </a:t>
            </a:r>
            <a:r>
              <a:rPr lang="en-US" sz="1400" b="1" dirty="0"/>
              <a:t>Dummy</a:t>
            </a:r>
            <a:r>
              <a:rPr lang="en-US" sz="1400" dirty="0"/>
              <a:t> et du </a:t>
            </a:r>
            <a:r>
              <a:rPr lang="en-US" sz="1400" b="1" dirty="0"/>
              <a:t>SVR</a:t>
            </a:r>
            <a:r>
              <a:rPr lang="en-US" sz="1400" dirty="0"/>
              <a:t> </a:t>
            </a:r>
            <a:r>
              <a:rPr lang="en-US" sz="1400" dirty="0" err="1"/>
              <a:t>sont</a:t>
            </a:r>
            <a:r>
              <a:rPr lang="en-US" sz="1400" dirty="0"/>
              <a:t> très </a:t>
            </a:r>
            <a:r>
              <a:rPr lang="en-US" sz="1400" dirty="0" err="1"/>
              <a:t>faibles</a:t>
            </a:r>
            <a:r>
              <a:rPr lang="en-US" sz="1400" dirty="0"/>
              <a:t>, </a:t>
            </a:r>
            <a:r>
              <a:rPr lang="en-US" sz="1400" dirty="0" err="1"/>
              <a:t>voire</a:t>
            </a:r>
            <a:r>
              <a:rPr lang="en-US" sz="1400" dirty="0"/>
              <a:t> </a:t>
            </a:r>
            <a:r>
              <a:rPr lang="en-US" sz="1400" dirty="0" err="1"/>
              <a:t>négatives</a:t>
            </a:r>
            <a:r>
              <a:rPr lang="en-US" sz="1400" dirty="0"/>
              <a:t> pour le R², </a:t>
            </a:r>
            <a:r>
              <a:rPr lang="en-US" sz="1400" dirty="0" err="1"/>
              <a:t>indiquant</a:t>
            </a:r>
            <a:r>
              <a:rPr lang="en-US" sz="1400" dirty="0"/>
              <a:t> </a:t>
            </a:r>
            <a:r>
              <a:rPr lang="en-US" sz="1400" dirty="0" err="1"/>
              <a:t>qu'ils</a:t>
            </a:r>
            <a:r>
              <a:rPr lang="en-US" sz="1400" dirty="0"/>
              <a:t> ne </a:t>
            </a:r>
            <a:r>
              <a:rPr lang="en-US" sz="1400" dirty="0" err="1"/>
              <a:t>capturent</a:t>
            </a:r>
            <a:r>
              <a:rPr lang="en-US" sz="1400" dirty="0"/>
              <a:t> pas du tout la structure des données.</a:t>
            </a:r>
          </a:p>
        </p:txBody>
      </p:sp>
    </p:spTree>
    <p:extLst>
      <p:ext uri="{BB962C8B-B14F-4D97-AF65-F5344CB8AC3E}">
        <p14:creationId xmlns:p14="http://schemas.microsoft.com/office/powerpoint/2010/main" val="365475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62D97-522A-9D0E-D0A6-10E97BB3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815" y="275576"/>
            <a:ext cx="10058400" cy="590269"/>
          </a:xfrm>
        </p:spPr>
        <p:txBody>
          <a:bodyPr>
            <a:normAutofit/>
          </a:bodyPr>
          <a:lstStyle/>
          <a:p>
            <a:r>
              <a:rPr lang="en-US" sz="1800" b="1" dirty="0"/>
              <a:t>Comparaison des </a:t>
            </a:r>
            <a:r>
              <a:rPr lang="en-US" sz="1800" b="1" dirty="0" err="1"/>
              <a:t>résultats</a:t>
            </a:r>
            <a:r>
              <a:rPr lang="en-US" sz="1800" b="1" dirty="0"/>
              <a:t> pour les emissions de CO2 : 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28292-0B33-802F-29A2-76E7591DCCB5}"/>
              </a:ext>
            </a:extLst>
          </p:cNvPr>
          <p:cNvSpPr txBox="1"/>
          <p:nvPr/>
        </p:nvSpPr>
        <p:spPr>
          <a:xfrm>
            <a:off x="278525" y="4453664"/>
            <a:ext cx="11477297" cy="1990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400" b="1" noProof="0" dirty="0"/>
              <a:t>CONCLUSION : </a:t>
            </a:r>
            <a:endParaRPr lang="fr-FR" sz="1400" noProof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noProof="0" dirty="0"/>
              <a:t>Le modèle issu du </a:t>
            </a:r>
            <a:r>
              <a:rPr lang="fr-FR" sz="1400" b="1" noProof="0" dirty="0" err="1"/>
              <a:t>Grid</a:t>
            </a:r>
            <a:r>
              <a:rPr lang="fr-FR" sz="1400" b="1" noProof="0" dirty="0"/>
              <a:t> </a:t>
            </a:r>
            <a:r>
              <a:rPr lang="fr-FR" sz="1400" b="1" noProof="0" dirty="0" err="1"/>
              <a:t>Search</a:t>
            </a:r>
            <a:r>
              <a:rPr lang="fr-FR" sz="1400" noProof="0" dirty="0"/>
              <a:t> est encore une fois le </a:t>
            </a:r>
            <a:r>
              <a:rPr lang="fr-FR" sz="1400" b="1" noProof="0" dirty="0"/>
              <a:t>meilleur</a:t>
            </a:r>
            <a:r>
              <a:rPr lang="fr-FR" sz="1400" noProof="0" dirty="0"/>
              <a:t>, surpassant les autres en termes de R², RMSE, et MAE.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noProof="0" dirty="0"/>
              <a:t>Le </a:t>
            </a:r>
            <a:r>
              <a:rPr lang="fr-FR" sz="1400" b="1" noProof="0" dirty="0" err="1"/>
              <a:t>Random</a:t>
            </a:r>
            <a:r>
              <a:rPr lang="fr-FR" sz="1400" b="1" noProof="0" dirty="0"/>
              <a:t> Forest</a:t>
            </a:r>
            <a:r>
              <a:rPr lang="fr-FR" sz="1400" noProof="0" dirty="0"/>
              <a:t> obtient aussi d'excellents résultats, très proches de ceux du </a:t>
            </a:r>
            <a:r>
              <a:rPr lang="fr-FR" sz="1400" noProof="0" dirty="0" err="1"/>
              <a:t>Grid</a:t>
            </a:r>
            <a:r>
              <a:rPr lang="fr-FR" sz="1400" noProof="0" dirty="0"/>
              <a:t> </a:t>
            </a:r>
            <a:r>
              <a:rPr lang="fr-FR" sz="1400" noProof="0" dirty="0" err="1"/>
              <a:t>Search</a:t>
            </a:r>
            <a:r>
              <a:rPr lang="fr-FR" sz="1400" noProof="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noProof="0" dirty="0" err="1"/>
              <a:t>Linear</a:t>
            </a:r>
            <a:r>
              <a:rPr lang="fr-FR" sz="1400" b="1" noProof="0" dirty="0"/>
              <a:t> </a:t>
            </a:r>
            <a:r>
              <a:rPr lang="fr-FR" sz="1400" b="1" noProof="0" dirty="0" err="1"/>
              <a:t>Regression</a:t>
            </a:r>
            <a:r>
              <a:rPr lang="fr-FR" sz="1400" noProof="0" dirty="0"/>
              <a:t> reste correcte pour une approche de base, mais loin derrière en précision.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/>
              <a:t>SVR</a:t>
            </a:r>
            <a:r>
              <a:rPr lang="fr-FR" sz="1400" dirty="0"/>
              <a:t> performe significativement mieux que le </a:t>
            </a:r>
            <a:r>
              <a:rPr lang="fr-FR" sz="1400" dirty="0" err="1"/>
              <a:t>Dummy</a:t>
            </a:r>
            <a:r>
              <a:rPr lang="fr-FR" sz="1400" dirty="0"/>
              <a:t>, mais reste </a:t>
            </a:r>
            <a:r>
              <a:rPr lang="fr-FR" sz="1400" b="1" dirty="0"/>
              <a:t>bien en dessous</a:t>
            </a:r>
            <a:r>
              <a:rPr lang="fr-FR" sz="1400" dirty="0"/>
              <a:t> des autres modèles.</a:t>
            </a:r>
            <a:endParaRPr lang="fr-FR" sz="1400" noProof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noProof="0" dirty="0"/>
              <a:t> </a:t>
            </a:r>
            <a:r>
              <a:rPr lang="fr-FR" sz="1400" b="1" noProof="0" dirty="0" err="1"/>
              <a:t>Dummy</a:t>
            </a:r>
            <a:r>
              <a:rPr lang="fr-FR" sz="1400" b="1" noProof="0" dirty="0"/>
              <a:t> </a:t>
            </a:r>
            <a:r>
              <a:rPr lang="fr-FR" sz="1400" b="1" noProof="0" dirty="0" err="1"/>
              <a:t>Regressor</a:t>
            </a:r>
            <a:r>
              <a:rPr lang="fr-FR" sz="1400" noProof="0" dirty="0"/>
              <a:t> agit comme référence minimale : il ne parvient pas à expliquer la variance des données.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1C1CC70-7A6C-3000-C54E-E97C02454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425467"/>
              </p:ext>
            </p:extLst>
          </p:nvPr>
        </p:nvGraphicFramePr>
        <p:xfrm>
          <a:off x="451944" y="1013834"/>
          <a:ext cx="11477298" cy="3291840"/>
        </p:xfrm>
        <a:graphic>
          <a:graphicData uri="http://schemas.openxmlformats.org/drawingml/2006/table">
            <a:tbl>
              <a:tblPr/>
              <a:tblGrid>
                <a:gridCol w="1860332">
                  <a:extLst>
                    <a:ext uri="{9D8B030D-6E8A-4147-A177-3AD203B41FA5}">
                      <a16:colId xmlns:a16="http://schemas.microsoft.com/office/drawing/2014/main" val="797987159"/>
                    </a:ext>
                  </a:extLst>
                </a:gridCol>
                <a:gridCol w="1418896">
                  <a:extLst>
                    <a:ext uri="{9D8B030D-6E8A-4147-A177-3AD203B41FA5}">
                      <a16:colId xmlns:a16="http://schemas.microsoft.com/office/drawing/2014/main" val="4020891896"/>
                    </a:ext>
                  </a:extLst>
                </a:gridCol>
                <a:gridCol w="1639614">
                  <a:extLst>
                    <a:ext uri="{9D8B030D-6E8A-4147-A177-3AD203B41FA5}">
                      <a16:colId xmlns:a16="http://schemas.microsoft.com/office/drawing/2014/main" val="1453435102"/>
                    </a:ext>
                  </a:extLst>
                </a:gridCol>
                <a:gridCol w="1639614">
                  <a:extLst>
                    <a:ext uri="{9D8B030D-6E8A-4147-A177-3AD203B41FA5}">
                      <a16:colId xmlns:a16="http://schemas.microsoft.com/office/drawing/2014/main" val="3602988557"/>
                    </a:ext>
                  </a:extLst>
                </a:gridCol>
                <a:gridCol w="1639614">
                  <a:extLst>
                    <a:ext uri="{9D8B030D-6E8A-4147-A177-3AD203B41FA5}">
                      <a16:colId xmlns:a16="http://schemas.microsoft.com/office/drawing/2014/main" val="1833438509"/>
                    </a:ext>
                  </a:extLst>
                </a:gridCol>
                <a:gridCol w="1639614">
                  <a:extLst>
                    <a:ext uri="{9D8B030D-6E8A-4147-A177-3AD203B41FA5}">
                      <a16:colId xmlns:a16="http://schemas.microsoft.com/office/drawing/2014/main" val="3721172866"/>
                    </a:ext>
                  </a:extLst>
                </a:gridCol>
                <a:gridCol w="1639614">
                  <a:extLst>
                    <a:ext uri="{9D8B030D-6E8A-4147-A177-3AD203B41FA5}">
                      <a16:colId xmlns:a16="http://schemas.microsoft.com/office/drawing/2014/main" val="3592214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Modèle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R² 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R²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RMSE 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RMSE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MAE 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MAE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68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Linear Regression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0.8280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0.8387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22.10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21.30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13.72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14.75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752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Dummy Regressor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~0.0000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53.28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53.04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38.28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39.92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795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SVR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0.4088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0.4254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20.07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21.10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701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Random Forest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0.9890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0.9722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4.09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4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Random Forest </a:t>
                      </a:r>
                      <a:r>
                        <a:rPr lang="en-US" b="1" dirty="0" err="1"/>
                        <a:t>optimisé</a:t>
                      </a:r>
                      <a:r>
                        <a:rPr lang="en-US" b="1" dirty="0"/>
                        <a:t> avec Grid Search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0.9943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7.41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071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87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631E-35F4-F037-A257-46D0E4D5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1800" b="1" noProof="0" dirty="0"/>
              <a:t>Classement des </a:t>
            </a:r>
            <a:r>
              <a:rPr lang="fr-FR" sz="1800" b="1" noProof="0" dirty="0" err="1"/>
              <a:t>features</a:t>
            </a:r>
            <a:r>
              <a:rPr lang="fr-FR" sz="1800" b="1" noProof="0" dirty="0"/>
              <a:t> les plus impactantes sur la performance du modèle :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CBE837-1735-7D34-FBB1-D5E4E8DC9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99" y="2413426"/>
            <a:ext cx="5581737" cy="3389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8A432A-B2E8-85E6-A62F-E403295C4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657" y="2413426"/>
            <a:ext cx="5665630" cy="338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04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{47C655A1-2099-8044-844B-4A935EC7629E}tf10001067</Template>
  <TotalTime>351</TotalTime>
  <Words>801</Words>
  <Application>Microsoft Macintosh PowerPoint</Application>
  <PresentationFormat>Widescreen</PresentationFormat>
  <Paragraphs>159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Garamond</vt:lpstr>
      <vt:lpstr>Savon</vt:lpstr>
      <vt:lpstr> PROJET 3   Mission - Prédisez la consommation d'énergie des bâtiments </vt:lpstr>
      <vt:lpstr>Problématique : </vt:lpstr>
      <vt:lpstr>ANALYSE EXPLORATOIRE</vt:lpstr>
      <vt:lpstr>PowerPoint Presentation</vt:lpstr>
      <vt:lpstr>Voici la répartition de la consommation d’énergie et émissions de CO2 par type d’usage du bâtiment : </vt:lpstr>
      <vt:lpstr>Feature engineering</vt:lpstr>
      <vt:lpstr>Suppression des outliers : </vt:lpstr>
      <vt:lpstr>Etude de corrélation entre les variables pour supprimer les variables trop corrélés ou redondantes :   corrélations marquantes :  PropertyGFATotal &amp; PropertyGFABuilding(s) : 0.92 PropertyGFATotal &amp; PropertyGFAParking : 0.87  PropertyGFABuilding(s) &amp; PropertyGFAParking : 0.74  PropertyGFATotal &amp; SiteEnergyUse(kBtu) : 0.75 PropertyGFABuilding(s) &amp; SiteEnergyUse(kBtu) : 0.74  SiteEnergyUse(kBtu) &amp; TotalGHGEmissions : 0.81 SiteEnergyUseWN(kBtu) &amp; TotalGHGEmissions : 0.81 zscore_energyuse &amp; zscore_totalemissions : 1.00 GFA_1use_ratio &amp; GFA_per_floor : 0.75 GFA_1use_ratio &amp; GFA_per_Surface : 0.75 Elec_ratio &amp; Elec_sourced_en : 0.86 Steam_ratio &amp; Steam_sourced_en : 0.86  </vt:lpstr>
      <vt:lpstr>Heatmap après traitement  des features :  </vt:lpstr>
      <vt:lpstr>Modélisation</vt:lpstr>
      <vt:lpstr>Comparaison des résultats pour la consommation d’energie : </vt:lpstr>
      <vt:lpstr>Comparaison des résultats pour les emissions de CO2 : </vt:lpstr>
      <vt:lpstr>Classement des features les plus impactantes sur la performance du modèle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fz.romane@gmail.com</dc:creator>
  <cp:lastModifiedBy>fz.romane@gmail.com</cp:lastModifiedBy>
  <cp:revision>7</cp:revision>
  <dcterms:created xsi:type="dcterms:W3CDTF">2025-06-29T07:53:29Z</dcterms:created>
  <dcterms:modified xsi:type="dcterms:W3CDTF">2026-02-01T16:15:23Z</dcterms:modified>
</cp:coreProperties>
</file>